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8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9054-56EB-460B-914B-AC000B924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086A21-AAB4-4FBD-BFC4-EB645B218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Higher Computing Science</a:t>
            </a:r>
          </a:p>
        </p:txBody>
      </p:sp>
    </p:spTree>
    <p:extLst>
      <p:ext uri="{BB962C8B-B14F-4D97-AF65-F5344CB8AC3E}">
        <p14:creationId xmlns:p14="http://schemas.microsoft.com/office/powerpoint/2010/main" val="1353847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53EC-F7F4-4511-AC6D-00850C14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 Hire Database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A55BC-4F5B-4BD1-91F0-B78938CF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34844"/>
            <a:ext cx="7729728" cy="3101983"/>
          </a:xfrm>
        </p:spPr>
        <p:txBody>
          <a:bodyPr/>
          <a:lstStyle/>
          <a:p>
            <a:r>
              <a:rPr lang="en-GB" dirty="0"/>
              <a:t>The following SQL query examples will relate to a car hire database which consists of 4 tables: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F9B56C-D346-4191-A0CC-04EEB2206DF3}"/>
              </a:ext>
            </a:extLst>
          </p:cNvPr>
          <p:cNvSpPr txBox="1"/>
          <p:nvPr/>
        </p:nvSpPr>
        <p:spPr>
          <a:xfrm>
            <a:off x="812102" y="4440548"/>
            <a:ext cx="1612900" cy="923330"/>
          </a:xfrm>
          <a:prstGeom prst="rect">
            <a:avLst/>
          </a:prstGeom>
          <a:solidFill>
            <a:srgbClr val="4472C4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r>
              <a:rPr lang="en-GB" dirty="0"/>
              <a:t>Customer</a:t>
            </a:r>
          </a:p>
          <a:p>
            <a:pPr algn="ctr"/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B8B2C8-E247-4356-811C-A8BE4F503DAA}"/>
              </a:ext>
            </a:extLst>
          </p:cNvPr>
          <p:cNvSpPr txBox="1"/>
          <p:nvPr/>
        </p:nvSpPr>
        <p:spPr>
          <a:xfrm>
            <a:off x="3774377" y="4440548"/>
            <a:ext cx="1612900" cy="923330"/>
          </a:xfrm>
          <a:prstGeom prst="rect">
            <a:avLst/>
          </a:prstGeom>
          <a:solidFill>
            <a:srgbClr val="4472C4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r>
              <a:rPr lang="en-GB" dirty="0"/>
              <a:t>Booking</a:t>
            </a:r>
          </a:p>
          <a:p>
            <a:pPr algn="ctr"/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B91A89-83A9-47B4-9E19-BD5BC5719BCB}"/>
              </a:ext>
            </a:extLst>
          </p:cNvPr>
          <p:cNvSpPr txBox="1"/>
          <p:nvPr/>
        </p:nvSpPr>
        <p:spPr>
          <a:xfrm>
            <a:off x="6736652" y="4440548"/>
            <a:ext cx="1612900" cy="923330"/>
          </a:xfrm>
          <a:prstGeom prst="rect">
            <a:avLst/>
          </a:prstGeom>
          <a:solidFill>
            <a:srgbClr val="4472C4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r>
              <a:rPr lang="en-GB" dirty="0"/>
              <a:t>Car</a:t>
            </a:r>
          </a:p>
          <a:p>
            <a:pPr algn="ctr"/>
            <a:endParaRPr lang="en-GB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7138E2-7065-4A86-84C4-2649035C1AB9}"/>
              </a:ext>
            </a:extLst>
          </p:cNvPr>
          <p:cNvSpPr txBox="1"/>
          <p:nvPr/>
        </p:nvSpPr>
        <p:spPr>
          <a:xfrm>
            <a:off x="9698927" y="4440548"/>
            <a:ext cx="1612900" cy="923330"/>
          </a:xfrm>
          <a:prstGeom prst="rect">
            <a:avLst/>
          </a:prstGeom>
          <a:solidFill>
            <a:srgbClr val="4472C4"/>
          </a:solidFill>
          <a:ln>
            <a:solidFill>
              <a:srgbClr val="00206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r>
              <a:rPr lang="en-GB" dirty="0"/>
              <a:t>Depot</a:t>
            </a:r>
          </a:p>
          <a:p>
            <a:pPr algn="ctr"/>
            <a:endParaRPr lang="en-GB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22C74E0-3105-46B6-A018-43D2D5FFCF4E}"/>
              </a:ext>
            </a:extLst>
          </p:cNvPr>
          <p:cNvCxnSpPr/>
          <p:nvPr/>
        </p:nvCxnSpPr>
        <p:spPr>
          <a:xfrm>
            <a:off x="2425002" y="4902213"/>
            <a:ext cx="134937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87CAEDB-7342-4E15-9E78-E8FC9811F555}"/>
              </a:ext>
            </a:extLst>
          </p:cNvPr>
          <p:cNvCxnSpPr>
            <a:cxnSpLocks/>
          </p:cNvCxnSpPr>
          <p:nvPr/>
        </p:nvCxnSpPr>
        <p:spPr>
          <a:xfrm flipV="1">
            <a:off x="3444177" y="4737113"/>
            <a:ext cx="330200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ED0E28B-5F2F-4F1A-B00C-263DB55AD49D}"/>
              </a:ext>
            </a:extLst>
          </p:cNvPr>
          <p:cNvCxnSpPr>
            <a:cxnSpLocks/>
          </p:cNvCxnSpPr>
          <p:nvPr/>
        </p:nvCxnSpPr>
        <p:spPr>
          <a:xfrm>
            <a:off x="3444177" y="4902213"/>
            <a:ext cx="327025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21D4DB1-9C0B-457E-8E39-2300993672FC}"/>
              </a:ext>
            </a:extLst>
          </p:cNvPr>
          <p:cNvCxnSpPr>
            <a:cxnSpLocks/>
          </p:cNvCxnSpPr>
          <p:nvPr/>
        </p:nvCxnSpPr>
        <p:spPr>
          <a:xfrm flipV="1">
            <a:off x="5387277" y="4902214"/>
            <a:ext cx="330200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7120973-5321-4C70-A6DB-6B605F73CF55}"/>
              </a:ext>
            </a:extLst>
          </p:cNvPr>
          <p:cNvCxnSpPr>
            <a:cxnSpLocks/>
          </p:cNvCxnSpPr>
          <p:nvPr/>
        </p:nvCxnSpPr>
        <p:spPr>
          <a:xfrm>
            <a:off x="5366639" y="4737113"/>
            <a:ext cx="327025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ACE7F04-6782-4394-8473-DC0C2CB09D12}"/>
              </a:ext>
            </a:extLst>
          </p:cNvPr>
          <p:cNvCxnSpPr/>
          <p:nvPr/>
        </p:nvCxnSpPr>
        <p:spPr>
          <a:xfrm>
            <a:off x="5387277" y="4902213"/>
            <a:ext cx="134937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2515467-3203-421D-B9AA-25E600846DF7}"/>
              </a:ext>
            </a:extLst>
          </p:cNvPr>
          <p:cNvCxnSpPr/>
          <p:nvPr/>
        </p:nvCxnSpPr>
        <p:spPr>
          <a:xfrm>
            <a:off x="8349552" y="4902213"/>
            <a:ext cx="134937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C5536DF-62A1-4471-85EA-F1AFF70BFB66}"/>
              </a:ext>
            </a:extLst>
          </p:cNvPr>
          <p:cNvCxnSpPr>
            <a:cxnSpLocks/>
          </p:cNvCxnSpPr>
          <p:nvPr/>
        </p:nvCxnSpPr>
        <p:spPr>
          <a:xfrm flipV="1">
            <a:off x="8349552" y="4902213"/>
            <a:ext cx="330200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93468E-1978-4720-91E5-09BE27BA4F12}"/>
              </a:ext>
            </a:extLst>
          </p:cNvPr>
          <p:cNvCxnSpPr>
            <a:cxnSpLocks/>
          </p:cNvCxnSpPr>
          <p:nvPr/>
        </p:nvCxnSpPr>
        <p:spPr>
          <a:xfrm>
            <a:off x="8328914" y="4737112"/>
            <a:ext cx="327025" cy="1651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5973493-BD07-4B44-ACAA-26D506300B66}"/>
              </a:ext>
            </a:extLst>
          </p:cNvPr>
          <p:cNvSpPr txBox="1"/>
          <p:nvPr/>
        </p:nvSpPr>
        <p:spPr>
          <a:xfrm>
            <a:off x="2527396" y="4521199"/>
            <a:ext cx="90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places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8F5FF1-6EFC-4A16-8109-2B4B8B3539B8}"/>
              </a:ext>
            </a:extLst>
          </p:cNvPr>
          <p:cNvSpPr txBox="1"/>
          <p:nvPr/>
        </p:nvSpPr>
        <p:spPr>
          <a:xfrm>
            <a:off x="5588000" y="4521199"/>
            <a:ext cx="97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contains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5957CC0-9C24-4291-9802-87A9BB851894}"/>
              </a:ext>
            </a:extLst>
          </p:cNvPr>
          <p:cNvSpPr txBox="1"/>
          <p:nvPr/>
        </p:nvSpPr>
        <p:spPr>
          <a:xfrm>
            <a:off x="8328914" y="4450330"/>
            <a:ext cx="133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is stored at</a:t>
            </a:r>
          </a:p>
        </p:txBody>
      </p:sp>
    </p:spTree>
    <p:extLst>
      <p:ext uri="{BB962C8B-B14F-4D97-AF65-F5344CB8AC3E}">
        <p14:creationId xmlns:p14="http://schemas.microsoft.com/office/powerpoint/2010/main" val="278881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53EC-F7F4-4511-AC6D-00850C14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 Hire Database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A55BC-4F5B-4BD1-91F0-B78938CF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34845"/>
            <a:ext cx="7729728" cy="817372"/>
          </a:xfrm>
        </p:spPr>
        <p:txBody>
          <a:bodyPr/>
          <a:lstStyle/>
          <a:p>
            <a:r>
              <a:rPr lang="en-GB" dirty="0"/>
              <a:t>The following SQL query examples will relate to a car hire database which consists of 4 tables: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F0C0ECD-29DE-421A-91D7-FD046AF84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14072"/>
              </p:ext>
            </p:extLst>
          </p:nvPr>
        </p:nvGraphicFramePr>
        <p:xfrm>
          <a:off x="2231136" y="3252217"/>
          <a:ext cx="1447800" cy="25958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844376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Customer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9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sng" dirty="0"/>
                        <a:t>customerID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6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forename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surname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4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telephone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3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houseNum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66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postcode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920392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1056B295-1D4C-4318-AC26-EC9997195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59900"/>
              </p:ext>
            </p:extLst>
          </p:nvPr>
        </p:nvGraphicFramePr>
        <p:xfrm>
          <a:off x="4344416" y="3252217"/>
          <a:ext cx="1574800" cy="22250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1844376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9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sng" dirty="0"/>
                        <a:t>bookingRef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6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customerID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registration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4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daysBooked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3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startDate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660509"/>
                  </a:ext>
                </a:extLst>
              </a:tr>
            </a:tbl>
          </a:graphicData>
        </a:graphic>
      </p:graphicFrame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E2BD40E4-FDAC-433F-A032-0E6C35282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450174"/>
              </p:ext>
            </p:extLst>
          </p:nvPr>
        </p:nvGraphicFramePr>
        <p:xfrm>
          <a:off x="6492240" y="3252217"/>
          <a:ext cx="1447800" cy="33223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844376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9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sng" dirty="0"/>
                        <a:t>registration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6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4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colour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3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depotID 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660509"/>
                  </a:ext>
                </a:extLst>
              </a:tr>
              <a:tr h="250952">
                <a:tc>
                  <a:txBody>
                    <a:bodyPr/>
                    <a:lstStyle/>
                    <a:p>
                      <a:r>
                        <a:rPr lang="en-GB" dirty="0"/>
                        <a:t>automatic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920392"/>
                  </a:ext>
                </a:extLst>
              </a:tr>
              <a:tr h="250952">
                <a:tc>
                  <a:txBody>
                    <a:bodyPr/>
                    <a:lstStyle/>
                    <a:p>
                      <a:r>
                        <a:rPr lang="en-GB" dirty="0"/>
                        <a:t>dailyPrice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387664"/>
                  </a:ext>
                </a:extLst>
              </a:tr>
              <a:tr h="250952">
                <a:tc>
                  <a:txBody>
                    <a:bodyPr/>
                    <a:lstStyle/>
                    <a:p>
                      <a:r>
                        <a:rPr lang="en-GB" dirty="0"/>
                        <a:t>mileage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686456"/>
                  </a:ext>
                </a:extLst>
              </a:tr>
            </a:tbl>
          </a:graphicData>
        </a:graphic>
      </p:graphicFrame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C6017614-EE7C-45D9-92FB-8B7510B30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347420"/>
              </p:ext>
            </p:extLst>
          </p:nvPr>
        </p:nvGraphicFramePr>
        <p:xfrm>
          <a:off x="8411464" y="3277108"/>
          <a:ext cx="1549400" cy="259638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49400">
                  <a:extLst>
                    <a:ext uri="{9D8B030D-6E8A-4147-A177-3AD203B41FA5}">
                      <a16:colId xmlns:a16="http://schemas.microsoft.com/office/drawing/2014/main" val="1844376459"/>
                    </a:ext>
                  </a:extLst>
                </a:gridCol>
              </a:tblGrid>
              <a:tr h="371348">
                <a:tc>
                  <a:txBody>
                    <a:bodyPr/>
                    <a:lstStyle/>
                    <a:p>
                      <a:r>
                        <a:rPr lang="en-GB" dirty="0"/>
                        <a:t>Depot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995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u="sng" dirty="0"/>
                        <a:t>depotID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64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depotName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depotCity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44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onlineBooking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33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depotHours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66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employees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057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14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Wildcards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wildcard is a symbol used to replace or represent one or more characters.</a:t>
            </a:r>
          </a:p>
          <a:p>
            <a:r>
              <a:rPr lang="en-GB" dirty="0"/>
              <a:t>SQL wildcards are used with the LIKE operator.</a:t>
            </a:r>
          </a:p>
          <a:p>
            <a:r>
              <a:rPr lang="en-GB" dirty="0"/>
              <a:t>% wildcard – matches one or more characters</a:t>
            </a:r>
          </a:p>
          <a:p>
            <a:r>
              <a:rPr lang="en-GB" dirty="0"/>
              <a:t>_ wildcard – matches exactly one character</a:t>
            </a:r>
          </a:p>
          <a:p>
            <a:r>
              <a:rPr lang="en-GB" dirty="0"/>
              <a:t>(Note that Microsoft Access uses</a:t>
            </a:r>
          </a:p>
          <a:p>
            <a:pPr lvl="1"/>
            <a:r>
              <a:rPr lang="en-GB" dirty="0"/>
              <a:t>* in place of %,</a:t>
            </a:r>
          </a:p>
          <a:p>
            <a:pPr lvl="1"/>
            <a:r>
              <a:rPr lang="en-GB" dirty="0"/>
              <a:t>? In place of _</a:t>
            </a:r>
          </a:p>
        </p:txBody>
      </p:sp>
    </p:spTree>
    <p:extLst>
      <p:ext uri="{BB962C8B-B14F-4D97-AF65-F5344CB8AC3E}">
        <p14:creationId xmlns:p14="http://schemas.microsoft.com/office/powerpoint/2010/main" val="185963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Wildcards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an SQL query to display the make, model and mileage of a car in a depot which is open all day, and where the make of car starts with ‘M’.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make, model, mileage, depotName, depotHours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car, depot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depotHours = 'All Day' and make LIKE ‘M%'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car.depotID = depot.depotID;</a:t>
            </a:r>
          </a:p>
        </p:txBody>
      </p:sp>
    </p:spTree>
    <p:extLst>
      <p:ext uri="{BB962C8B-B14F-4D97-AF65-F5344CB8AC3E}">
        <p14:creationId xmlns:p14="http://schemas.microsoft.com/office/powerpoint/2010/main" val="201895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Wildcards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5"/>
            <a:ext cx="7729728" cy="790956"/>
          </a:xfrm>
        </p:spPr>
        <p:txBody>
          <a:bodyPr/>
          <a:lstStyle/>
          <a:p>
            <a:r>
              <a:rPr lang="en-GB" dirty="0"/>
              <a:t>Write an SQL query to display the make, model and mileage of a car in a depot which is open all day, and where the make of car starts with ‘M’.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78C1DAD-B37D-41D2-85DE-5B257F8E8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31995"/>
              </p:ext>
            </p:extLst>
          </p:nvPr>
        </p:nvGraphicFramePr>
        <p:xfrm>
          <a:off x="2844236" y="3913634"/>
          <a:ext cx="6503527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9246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922717">
                  <a:extLst>
                    <a:ext uri="{9D8B030D-6E8A-4147-A177-3AD203B41FA5}">
                      <a16:colId xmlns:a16="http://schemas.microsoft.com/office/drawing/2014/main" val="372073247"/>
                    </a:ext>
                  </a:extLst>
                </a:gridCol>
                <a:gridCol w="902832">
                  <a:extLst>
                    <a:ext uri="{9D8B030D-6E8A-4147-A177-3AD203B41FA5}">
                      <a16:colId xmlns:a16="http://schemas.microsoft.com/office/drawing/2014/main" val="3142342580"/>
                    </a:ext>
                  </a:extLst>
                </a:gridCol>
                <a:gridCol w="2012315">
                  <a:extLst>
                    <a:ext uri="{9D8B030D-6E8A-4147-A177-3AD203B41FA5}">
                      <a16:colId xmlns:a16="http://schemas.microsoft.com/office/drawing/2014/main" val="4223147753"/>
                    </a:ext>
                  </a:extLst>
                </a:gridCol>
                <a:gridCol w="1566417">
                  <a:extLst>
                    <a:ext uri="{9D8B030D-6E8A-4147-A177-3AD203B41FA5}">
                      <a16:colId xmlns:a16="http://schemas.microsoft.com/office/drawing/2014/main" val="4039164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make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mileage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depotName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depotHours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Mazda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19210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Summerville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All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Mercedes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A-Class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Summerville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All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94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Mazda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84662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Smith’s Garage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All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178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27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Wildcards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a customer’s full name, booking ID, car make and model, and depot name for all customers who have ‘e’ as the 5</a:t>
            </a:r>
            <a:r>
              <a:rPr lang="en-GB" baseline="30000" dirty="0"/>
              <a:t>th</a:t>
            </a:r>
            <a:r>
              <a:rPr lang="en-GB" dirty="0"/>
              <a:t> letter of their surname</a:t>
            </a:r>
          </a:p>
          <a:p>
            <a:r>
              <a:rPr lang="en-GB" dirty="0"/>
              <a:t>List the details in alphabetical order of the customer surname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forename, surname, bookingRef, make, model, depotName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customer, booking, car, depot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surname LIKE ‘____e%'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customer.customerID = booking.customerID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booking.registration = car.registration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car.depotID = depot.depotID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ORDER BY surname;</a:t>
            </a:r>
          </a:p>
        </p:txBody>
      </p:sp>
    </p:spTree>
    <p:extLst>
      <p:ext uri="{BB962C8B-B14F-4D97-AF65-F5344CB8AC3E}">
        <p14:creationId xmlns:p14="http://schemas.microsoft.com/office/powerpoint/2010/main" val="41901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Wildcards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49500"/>
            <a:ext cx="7729728" cy="1358899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a customer’s full name, booking ID, car make and model, and depot name for all customers who have ‘e’ as the 5</a:t>
            </a:r>
            <a:r>
              <a:rPr lang="en-GB" baseline="30000" dirty="0"/>
              <a:t>th</a:t>
            </a:r>
            <a:r>
              <a:rPr lang="en-GB" dirty="0"/>
              <a:t> letter of their surname</a:t>
            </a:r>
          </a:p>
          <a:p>
            <a:r>
              <a:rPr lang="en-GB" dirty="0"/>
              <a:t>List the details in alphabetical order of the customer surname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78C1DAD-B37D-41D2-85DE-5B257F8E8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38124"/>
              </p:ext>
            </p:extLst>
          </p:nvPr>
        </p:nvGraphicFramePr>
        <p:xfrm>
          <a:off x="2272458" y="3904487"/>
          <a:ext cx="764708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9061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1138365">
                  <a:extLst>
                    <a:ext uri="{9D8B030D-6E8A-4147-A177-3AD203B41FA5}">
                      <a16:colId xmlns:a16="http://schemas.microsoft.com/office/drawing/2014/main" val="372073247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3142342580"/>
                    </a:ext>
                  </a:extLst>
                </a:gridCol>
                <a:gridCol w="1315085">
                  <a:extLst>
                    <a:ext uri="{9D8B030D-6E8A-4147-A177-3AD203B41FA5}">
                      <a16:colId xmlns:a16="http://schemas.microsoft.com/office/drawing/2014/main" val="4223147753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4039164330"/>
                    </a:ext>
                  </a:extLst>
                </a:gridCol>
                <a:gridCol w="1962563">
                  <a:extLst>
                    <a:ext uri="{9D8B030D-6E8A-4147-A177-3AD203B41FA5}">
                      <a16:colId xmlns:a16="http://schemas.microsoft.com/office/drawing/2014/main" val="2846916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forename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surname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bookingRef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make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depotName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Leanne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Docherty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Machine 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Castle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94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Summerville Street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17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Castle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7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Fiesta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High Street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9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Castle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847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32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AVG() function returns the average value of a numeric column.</a:t>
            </a:r>
          </a:p>
          <a:p>
            <a:r>
              <a:rPr lang="en-GB" dirty="0"/>
              <a:t>Write an SQL query to display the average mileage of all the cars in the car table.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AVG(mileage)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car;</a:t>
            </a:r>
          </a:p>
        </p:txBody>
      </p:sp>
    </p:spTree>
    <p:extLst>
      <p:ext uri="{BB962C8B-B14F-4D97-AF65-F5344CB8AC3E}">
        <p14:creationId xmlns:p14="http://schemas.microsoft.com/office/powerpoint/2010/main" val="2632287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78C1DAD-B37D-41D2-85DE-5B257F8E8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408097"/>
              </p:ext>
            </p:extLst>
          </p:nvPr>
        </p:nvGraphicFramePr>
        <p:xfrm>
          <a:off x="5346279" y="3708908"/>
          <a:ext cx="1499442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9442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</a:tblGrid>
              <a:tr h="23672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avg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28950.95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94754E-E572-48EB-A191-DD490CCD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1188720"/>
          </a:xfrm>
        </p:spPr>
        <p:txBody>
          <a:bodyPr>
            <a:normAutofit/>
          </a:bodyPr>
          <a:lstStyle/>
          <a:p>
            <a:r>
              <a:rPr lang="en-GB" dirty="0"/>
              <a:t>The AVG() function returns the average value of a numeric column.</a:t>
            </a:r>
          </a:p>
          <a:p>
            <a:r>
              <a:rPr lang="en-GB" dirty="0"/>
              <a:t>Write an SQL query to display the average mileage of all the cars in the car table.</a:t>
            </a:r>
          </a:p>
        </p:txBody>
      </p:sp>
    </p:spTree>
    <p:extLst>
      <p:ext uri="{BB962C8B-B14F-4D97-AF65-F5344CB8AC3E}">
        <p14:creationId xmlns:p14="http://schemas.microsoft.com/office/powerpoint/2010/main" val="181229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en-GB" dirty="0"/>
              <a:t>MIN, MAX &amp; Aliases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MIN() and MAX functions returns the largest and smallest values of a numeric column.</a:t>
            </a:r>
          </a:p>
          <a:p>
            <a:r>
              <a:rPr lang="en-GB" dirty="0"/>
              <a:t>Aliases can be used to give columns a more readable name. The SQL AS statement does this.</a:t>
            </a:r>
          </a:p>
          <a:p>
            <a:r>
              <a:rPr lang="en-GB" dirty="0"/>
              <a:t>Write an SQL query to display the lowest and highest mileages of the cars in the car table. The result should have a readable heading.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MIN(mileage) AS [Lowest Mileage], MAX(mileage) AS [Highest Mileage]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car;</a:t>
            </a:r>
          </a:p>
        </p:txBody>
      </p:sp>
    </p:spTree>
    <p:extLst>
      <p:ext uri="{BB962C8B-B14F-4D97-AF65-F5344CB8AC3E}">
        <p14:creationId xmlns:p14="http://schemas.microsoft.com/office/powerpoint/2010/main" val="3592459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MIN, MAX &amp; Aliases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6EBF2F-8F74-4667-9175-4360A5E7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2120900"/>
          </a:xfrm>
        </p:spPr>
        <p:txBody>
          <a:bodyPr>
            <a:normAutofit/>
          </a:bodyPr>
          <a:lstStyle/>
          <a:p>
            <a:r>
              <a:rPr lang="en-GB" dirty="0"/>
              <a:t>The MIN() and MAX functions returns the largest and smallest values of a numeric column.</a:t>
            </a:r>
          </a:p>
          <a:p>
            <a:r>
              <a:rPr lang="en-GB" dirty="0"/>
              <a:t>Aliases can be used to give columns a more readable name. The SQL AS statement does this.</a:t>
            </a:r>
          </a:p>
          <a:p>
            <a:r>
              <a:rPr lang="en-GB" dirty="0"/>
              <a:t>Write an SQL query to display the lowest and highest mileages of the cars in the car table. The result should have a readable heading.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C7336D0-C05C-4D40-A619-90A48058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476433"/>
              </p:ext>
            </p:extLst>
          </p:nvPr>
        </p:nvGraphicFramePr>
        <p:xfrm>
          <a:off x="4315720" y="4641088"/>
          <a:ext cx="3560559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3022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1807537">
                  <a:extLst>
                    <a:ext uri="{9D8B030D-6E8A-4147-A177-3AD203B41FA5}">
                      <a16:colId xmlns:a16="http://schemas.microsoft.com/office/drawing/2014/main" val="2136934275"/>
                    </a:ext>
                  </a:extLst>
                </a:gridCol>
              </a:tblGrid>
              <a:tr h="204215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Lowest Mileage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Highest Mileage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102300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85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COUNT() function returns the number of rows that match a specified criteria.</a:t>
            </a:r>
          </a:p>
          <a:p>
            <a:r>
              <a:rPr lang="en-GB" dirty="0"/>
              <a:t>Write an SQL query to display the cities that have depot, together with the number of depots in each city.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depotCity, COUNT(*)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depot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GROUP BY depotCity;</a:t>
            </a:r>
          </a:p>
        </p:txBody>
      </p:sp>
    </p:spTree>
    <p:extLst>
      <p:ext uri="{BB962C8B-B14F-4D97-AF65-F5344CB8AC3E}">
        <p14:creationId xmlns:p14="http://schemas.microsoft.com/office/powerpoint/2010/main" val="1300335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C7336D0-C05C-4D40-A619-90A48058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410315"/>
              </p:ext>
            </p:extLst>
          </p:nvPr>
        </p:nvGraphicFramePr>
        <p:xfrm>
          <a:off x="4315720" y="3942588"/>
          <a:ext cx="3560559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3022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1807537">
                  <a:extLst>
                    <a:ext uri="{9D8B030D-6E8A-4147-A177-3AD203B41FA5}">
                      <a16:colId xmlns:a16="http://schemas.microsoft.com/office/drawing/2014/main" val="2136934275"/>
                    </a:ext>
                  </a:extLst>
                </a:gridCol>
              </a:tblGrid>
              <a:tr h="204215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depotCity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Edinburgh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Glasgow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23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Inverness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3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99360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C988619-B64F-4B08-9B8D-8EA1884D6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en-GB" dirty="0"/>
              <a:t>COUNT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1A44482-907F-4AB4-B9B6-C4F25E79E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1422400"/>
          </a:xfrm>
        </p:spPr>
        <p:txBody>
          <a:bodyPr>
            <a:normAutofit/>
          </a:bodyPr>
          <a:lstStyle/>
          <a:p>
            <a:r>
              <a:rPr lang="en-GB" dirty="0"/>
              <a:t>The COUNT() function returns the number of rows that match a specified criteria.</a:t>
            </a:r>
          </a:p>
          <a:p>
            <a:r>
              <a:rPr lang="en-GB" dirty="0"/>
              <a:t>Write an SQL query to display the cities that have depot, together with the number of depots in each city.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288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SUM() function returns the sum of a numeric column.</a:t>
            </a:r>
          </a:p>
          <a:p>
            <a:r>
              <a:rPr lang="en-GB" dirty="0"/>
              <a:t>Write an SQL query to display the number of employees that are based in depots in Edinburgh or Glasgow. Use ‘Edinburgh/Glasgow Employees’ as a readable heading.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SUM(employees) AS [Edinburgh/Glasgow Employees]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depot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depotCity = 'Edinburgh'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 depotCity = 'Glasgow';</a:t>
            </a:r>
          </a:p>
        </p:txBody>
      </p:sp>
    </p:spTree>
    <p:extLst>
      <p:ext uri="{BB962C8B-B14F-4D97-AF65-F5344CB8AC3E}">
        <p14:creationId xmlns:p14="http://schemas.microsoft.com/office/powerpoint/2010/main" val="2943223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1663700"/>
          </a:xfrm>
        </p:spPr>
        <p:txBody>
          <a:bodyPr>
            <a:normAutofit/>
          </a:bodyPr>
          <a:lstStyle/>
          <a:p>
            <a:r>
              <a:rPr lang="en-GB" dirty="0"/>
              <a:t>The SUM() function returns the sum of a numeric column.</a:t>
            </a:r>
          </a:p>
          <a:p>
            <a:r>
              <a:rPr lang="en-GB" dirty="0"/>
              <a:t>Write an SQL query to display the number of employees that are based in depots in Edinburgh or Glasgow. Use ‘Edinburgh/Glasgow Employees’ as a readable heading.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7AB167-1C77-4B41-92A8-0E5A1E1C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87392"/>
              </p:ext>
            </p:extLst>
          </p:nvPr>
        </p:nvGraphicFramePr>
        <p:xfrm>
          <a:off x="4530725" y="4000500"/>
          <a:ext cx="313055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30550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</a:tblGrid>
              <a:tr h="23672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Edinburgh/Glasgow Employees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25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GROUP BY statement groups rows with the same values together.</a:t>
            </a:r>
          </a:p>
          <a:p>
            <a:r>
              <a:rPr lang="en-GB" dirty="0"/>
              <a:t>Write an SQL query to display a list of each car colour, together with the number of bookings made for cars of those colours.</a:t>
            </a:r>
          </a:p>
          <a:p>
            <a:r>
              <a:rPr lang="en-GB" dirty="0"/>
              <a:t>List the details from the least popular colour to the most popular colour.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colour, COUNT(*)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car, booking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booking.registration = car.registration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GROUP BY colour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ORDER BY COUNT(*) ASC;</a:t>
            </a:r>
          </a:p>
        </p:txBody>
      </p:sp>
    </p:spTree>
    <p:extLst>
      <p:ext uri="{BB962C8B-B14F-4D97-AF65-F5344CB8AC3E}">
        <p14:creationId xmlns:p14="http://schemas.microsoft.com/office/powerpoint/2010/main" val="1672726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/>
          <a:lstStyle/>
          <a:p>
            <a:r>
              <a:rPr lang="en-GB"/>
              <a:t>GROUP BY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1727200"/>
          </a:xfrm>
        </p:spPr>
        <p:txBody>
          <a:bodyPr>
            <a:normAutofit/>
          </a:bodyPr>
          <a:lstStyle/>
          <a:p>
            <a:r>
              <a:rPr lang="en-GB" dirty="0"/>
              <a:t>The GROUP BY statement groups rows with the same values together.</a:t>
            </a:r>
          </a:p>
          <a:p>
            <a:r>
              <a:rPr lang="en-GB" dirty="0"/>
              <a:t>Write an SQL query to display a list of each car colour, together with the number of bookings made for cars of those colours.</a:t>
            </a:r>
          </a:p>
          <a:p>
            <a:r>
              <a:rPr lang="en-GB" dirty="0"/>
              <a:t>List the details from the least popular colour to the most popular colour.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95C8FAA-538F-4141-AB6D-FA626EB6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262809"/>
              </p:ext>
            </p:extLst>
          </p:nvPr>
        </p:nvGraphicFramePr>
        <p:xfrm>
          <a:off x="4315720" y="4247388"/>
          <a:ext cx="3560559" cy="2219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53022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1807537">
                  <a:extLst>
                    <a:ext uri="{9D8B030D-6E8A-4147-A177-3AD203B41FA5}">
                      <a16:colId xmlns:a16="http://schemas.microsoft.com/office/drawing/2014/main" val="2136934275"/>
                    </a:ext>
                  </a:extLst>
                </a:gridCol>
              </a:tblGrid>
              <a:tr h="204215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colour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23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34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99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222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331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UDPATE command can be used to update the values of more than one field.</a:t>
            </a:r>
          </a:p>
          <a:p>
            <a:r>
              <a:rPr lang="en-GB" dirty="0"/>
              <a:t>The details of the car with registration BA18 HER have changed, use SQL to update the car record as follows: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mileage = 21540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dailyPrice = 38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UPDATE car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SET mileage = 21540, dailyPrice = 38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registration = 'BA18 HER';</a:t>
            </a:r>
          </a:p>
        </p:txBody>
      </p:sp>
    </p:spTree>
    <p:extLst>
      <p:ext uri="{BB962C8B-B14F-4D97-AF65-F5344CB8AC3E}">
        <p14:creationId xmlns:p14="http://schemas.microsoft.com/office/powerpoint/2010/main" val="4201934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The UDPATE command can be used to update the values of more than one field.</a:t>
            </a:r>
          </a:p>
          <a:p>
            <a:r>
              <a:rPr lang="en-GB" dirty="0"/>
              <a:t>The details of the car with registration BA18 HER have changed, use SQL to update the car record as follows: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mileage = 21540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dailyPrice = £38.00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38932EA-4847-4025-A439-BFA37ABD0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673327"/>
              </p:ext>
            </p:extLst>
          </p:nvPr>
        </p:nvGraphicFramePr>
        <p:xfrm>
          <a:off x="1768997" y="4495800"/>
          <a:ext cx="865400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7021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1315085">
                  <a:extLst>
                    <a:ext uri="{9D8B030D-6E8A-4147-A177-3AD203B41FA5}">
                      <a16:colId xmlns:a16="http://schemas.microsoft.com/office/drawing/2014/main" val="372073247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3142342580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4223147753"/>
                    </a:ext>
                  </a:extLst>
                </a:gridCol>
                <a:gridCol w="1016318">
                  <a:extLst>
                    <a:ext uri="{9D8B030D-6E8A-4147-A177-3AD203B41FA5}">
                      <a16:colId xmlns:a16="http://schemas.microsoft.com/office/drawing/2014/main" val="3826049500"/>
                    </a:ext>
                  </a:extLst>
                </a:gridCol>
                <a:gridCol w="1159193">
                  <a:extLst>
                    <a:ext uri="{9D8B030D-6E8A-4147-A177-3AD203B41FA5}">
                      <a16:colId xmlns:a16="http://schemas.microsoft.com/office/drawing/2014/main" val="647846818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4039164330"/>
                    </a:ext>
                  </a:extLst>
                </a:gridCol>
                <a:gridCol w="1054134">
                  <a:extLst>
                    <a:ext uri="{9D8B030D-6E8A-4147-A177-3AD203B41FA5}">
                      <a16:colId xmlns:a16="http://schemas.microsoft.com/office/drawing/2014/main" val="2846916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registration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make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colour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depotID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automatic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dailyPrice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mileage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BA18 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Wingdings" panose="05000000000000000000" pitchFamily="2" charset="2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21233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D3A77A-8C9C-4E0D-A5D5-86C758C61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723511"/>
              </p:ext>
            </p:extLst>
          </p:nvPr>
        </p:nvGraphicFramePr>
        <p:xfrm>
          <a:off x="1768997" y="5727700"/>
          <a:ext cx="865400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7021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1315085">
                  <a:extLst>
                    <a:ext uri="{9D8B030D-6E8A-4147-A177-3AD203B41FA5}">
                      <a16:colId xmlns:a16="http://schemas.microsoft.com/office/drawing/2014/main" val="372073247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3142342580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4223147753"/>
                    </a:ext>
                  </a:extLst>
                </a:gridCol>
                <a:gridCol w="1016318">
                  <a:extLst>
                    <a:ext uri="{9D8B030D-6E8A-4147-A177-3AD203B41FA5}">
                      <a16:colId xmlns:a16="http://schemas.microsoft.com/office/drawing/2014/main" val="3826049500"/>
                    </a:ext>
                  </a:extLst>
                </a:gridCol>
                <a:gridCol w="1159193">
                  <a:extLst>
                    <a:ext uri="{9D8B030D-6E8A-4147-A177-3AD203B41FA5}">
                      <a16:colId xmlns:a16="http://schemas.microsoft.com/office/drawing/2014/main" val="647846818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4039164330"/>
                    </a:ext>
                  </a:extLst>
                </a:gridCol>
                <a:gridCol w="1054134">
                  <a:extLst>
                    <a:ext uri="{9D8B030D-6E8A-4147-A177-3AD203B41FA5}">
                      <a16:colId xmlns:a16="http://schemas.microsoft.com/office/drawing/2014/main" val="2846916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registration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make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colour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depotID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automatic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dailyPrice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mileage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BA18 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D1004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Wingdings" panose="05000000000000000000" pitchFamily="2" charset="2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21540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0B7297D0-980F-439B-80F1-335D01424BB9}"/>
              </a:ext>
            </a:extLst>
          </p:cNvPr>
          <p:cNvSpPr/>
          <p:nvPr/>
        </p:nvSpPr>
        <p:spPr>
          <a:xfrm rot="5400000">
            <a:off x="8536940" y="5111750"/>
            <a:ext cx="490220" cy="741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4E985B8-A443-4D80-9CA2-B92692C4D459}"/>
              </a:ext>
            </a:extLst>
          </p:cNvPr>
          <p:cNvSpPr/>
          <p:nvPr/>
        </p:nvSpPr>
        <p:spPr>
          <a:xfrm rot="5400000">
            <a:off x="9715754" y="5111750"/>
            <a:ext cx="490220" cy="7416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245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A computed value is a calculation within a SELECT statement.</a:t>
            </a:r>
          </a:p>
          <a:p>
            <a:r>
              <a:rPr lang="en-GB" dirty="0"/>
              <a:t>Write an SQL query to display the surname, booking reference, number of days booked, daily price, and a calculated </a:t>
            </a:r>
            <a:r>
              <a:rPr lang="en-GB" b="1" dirty="0"/>
              <a:t>total cost </a:t>
            </a:r>
            <a:r>
              <a:rPr lang="en-GB" dirty="0"/>
              <a:t>of each booking (with a readable column heading).</a:t>
            </a:r>
          </a:p>
          <a:p>
            <a:r>
              <a:rPr lang="en-GB" dirty="0"/>
              <a:t>Display the most expensive booking first.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surname, bookingRef, daysBooked, dailyPrice,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daysBooked * dailyPrice AS [Total Cost]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customer, booking, car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customer.customerID = booking.customerID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booking.registration = car.registration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ORDER BY daysBooked * dailyPrice DESC;</a:t>
            </a:r>
          </a:p>
        </p:txBody>
      </p:sp>
    </p:spTree>
    <p:extLst>
      <p:ext uri="{BB962C8B-B14F-4D97-AF65-F5344CB8AC3E}">
        <p14:creationId xmlns:p14="http://schemas.microsoft.com/office/powerpoint/2010/main" val="2499893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Computed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318000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the surname, booking reference, number of days booked, daily price, and a calculated </a:t>
            </a:r>
            <a:r>
              <a:rPr lang="en-GB" b="1" dirty="0"/>
              <a:t>total cost </a:t>
            </a:r>
            <a:r>
              <a:rPr lang="en-GB" dirty="0"/>
              <a:t>of each booking (with a readable column heading).</a:t>
            </a:r>
          </a:p>
          <a:p>
            <a:r>
              <a:rPr lang="en-GB" dirty="0"/>
              <a:t>Display the most expensive booking first.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41342C5-727D-4E01-9751-488C0C031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180059"/>
              </p:ext>
            </p:extLst>
          </p:nvPr>
        </p:nvGraphicFramePr>
        <p:xfrm>
          <a:off x="2825241" y="3573780"/>
          <a:ext cx="6541518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777">
                  <a:extLst>
                    <a:ext uri="{9D8B030D-6E8A-4147-A177-3AD203B41FA5}">
                      <a16:colId xmlns:a16="http://schemas.microsoft.com/office/drawing/2014/main" val="372073247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3142342580"/>
                    </a:ext>
                  </a:extLst>
                </a:gridCol>
                <a:gridCol w="1344867">
                  <a:extLst>
                    <a:ext uri="{9D8B030D-6E8A-4147-A177-3AD203B41FA5}">
                      <a16:colId xmlns:a16="http://schemas.microsoft.com/office/drawing/2014/main" val="4223147753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4039164330"/>
                    </a:ext>
                  </a:extLst>
                </a:gridCol>
                <a:gridCol w="1519874">
                  <a:extLst>
                    <a:ext uri="{9D8B030D-6E8A-4147-A177-3AD203B41FA5}">
                      <a16:colId xmlns:a16="http://schemas.microsoft.com/office/drawing/2014/main" val="2846916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surname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bookingRef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daysBooked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dailyPrice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Total Cost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Grimes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£42.00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£252.00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MacArthur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£33.00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£231.00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94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£41.00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£205.00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178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£42.00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£168.00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7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Watson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£52.00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£156.00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69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Fraser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£38.00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£114.00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847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Gorecki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B3537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£40.00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560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84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3162300"/>
          </a:xfrm>
        </p:spPr>
        <p:txBody>
          <a:bodyPr>
            <a:normAutofit/>
          </a:bodyPr>
          <a:lstStyle/>
          <a:p>
            <a:r>
              <a:rPr lang="en-GB" dirty="0"/>
              <a:t>The result of a query can be used as a table in a second query.</a:t>
            </a:r>
          </a:p>
          <a:p>
            <a:r>
              <a:rPr lang="en-GB" dirty="0"/>
              <a:t>Write an SQL query to display the name of depots that have cars with the cheapest daily price together with the price (use a readable heading to display the cheapest price).</a:t>
            </a:r>
          </a:p>
          <a:p>
            <a:r>
              <a:rPr lang="en-GB" dirty="0"/>
              <a:t>This solution will require </a:t>
            </a:r>
            <a:r>
              <a:rPr lang="en-GB" b="1" dirty="0"/>
              <a:t>two</a:t>
            </a:r>
            <a:r>
              <a:rPr lang="en-GB" dirty="0"/>
              <a:t> separate queries:</a:t>
            </a:r>
          </a:p>
          <a:p>
            <a:pPr lvl="1"/>
            <a:r>
              <a:rPr lang="en-GB" dirty="0"/>
              <a:t>Query 1: a simple query to generate a single value (the cheapest daily price)</a:t>
            </a:r>
          </a:p>
          <a:p>
            <a:pPr lvl="1"/>
            <a:r>
              <a:rPr lang="en-GB" dirty="0"/>
              <a:t>Query 2: uses Query 1 to find the depots with the cheapest daily price</a:t>
            </a:r>
          </a:p>
        </p:txBody>
      </p:sp>
    </p:spTree>
    <p:extLst>
      <p:ext uri="{BB962C8B-B14F-4D97-AF65-F5344CB8AC3E}">
        <p14:creationId xmlns:p14="http://schemas.microsoft.com/office/powerpoint/2010/main" val="1131773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3162300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the name of depots that have cars with the cheapest daily price together with the price (use a readable heading to display the cheapest price).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1 – Find Minimum Daily Price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MIN(dailyPrice) AS [Cheapest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car;</a:t>
            </a:r>
          </a:p>
        </p:txBody>
      </p:sp>
    </p:spTree>
    <p:extLst>
      <p:ext uri="{BB962C8B-B14F-4D97-AF65-F5344CB8AC3E}">
        <p14:creationId xmlns:p14="http://schemas.microsoft.com/office/powerpoint/2010/main" val="3008723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3162300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the name of depots that have cars with the cheapest daily price together with the price (use a readable heading to display the cheapest price).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1 – Find Minimum Daily Price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D7CA20-85B8-4A62-AE17-3A5697BF8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712082"/>
              </p:ext>
            </p:extLst>
          </p:nvPr>
        </p:nvGraphicFramePr>
        <p:xfrm>
          <a:off x="4983162" y="4229100"/>
          <a:ext cx="222567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</a:tblGrid>
              <a:tr h="23672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Cheapest Daily 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£21.00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95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3733800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the name of depots that have cars with the cheapest daily price together with the price (use a readable heading to display the cheapest price).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2 – Display names of depots with cars at cheapest daily price</a:t>
            </a:r>
            <a:endParaRPr lang="en-GB" dirty="0"/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depotName, [Cheapest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car, depot, [Find Minimum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dailyPrice = [Cheapest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car.depotID = depot.depotID;</a:t>
            </a:r>
          </a:p>
        </p:txBody>
      </p:sp>
    </p:spTree>
    <p:extLst>
      <p:ext uri="{BB962C8B-B14F-4D97-AF65-F5344CB8AC3E}">
        <p14:creationId xmlns:p14="http://schemas.microsoft.com/office/powerpoint/2010/main" val="4021959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1930400"/>
          </a:xfrm>
        </p:spPr>
        <p:txBody>
          <a:bodyPr>
            <a:normAutofit/>
          </a:bodyPr>
          <a:lstStyle/>
          <a:p>
            <a:r>
              <a:rPr lang="en-GB" dirty="0"/>
              <a:t>Write an SQL query to display the name of depots that have cars with the cheapest daily price together with the price (use a readable heading to display the cheapest price).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2 – Display names of depots with cars at cheapest daily price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B84C926-8DE1-4A08-A58E-479D7F643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852073"/>
              </p:ext>
            </p:extLst>
          </p:nvPr>
        </p:nvGraphicFramePr>
        <p:xfrm>
          <a:off x="3827910" y="4415028"/>
          <a:ext cx="4536180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1880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2136934275"/>
                    </a:ext>
                  </a:extLst>
                </a:gridCol>
              </a:tblGrid>
              <a:tr h="204215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depotName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Cheapest Daily 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Smith’s Garage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Green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230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Machine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34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779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3162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Second Example:</a:t>
            </a:r>
          </a:p>
          <a:p>
            <a:r>
              <a:rPr lang="en-GB" dirty="0"/>
              <a:t>Write an SQL query to display the details of any automatic car with a daily price that is above the average daily price. The query should display the car make, model, colour, automatic and daily price.</a:t>
            </a:r>
          </a:p>
          <a:p>
            <a:r>
              <a:rPr lang="en-GB" dirty="0"/>
              <a:t>The most expensive cars should be listed first.</a:t>
            </a:r>
          </a:p>
          <a:p>
            <a:r>
              <a:rPr lang="en-GB" dirty="0"/>
              <a:t>This solution requires </a:t>
            </a:r>
            <a:r>
              <a:rPr lang="en-GB" b="1" dirty="0"/>
              <a:t>two</a:t>
            </a:r>
            <a:r>
              <a:rPr lang="en-GB" dirty="0"/>
              <a:t> separate queries.</a:t>
            </a:r>
          </a:p>
          <a:p>
            <a:pPr lvl="1"/>
            <a:r>
              <a:rPr lang="en-GB" dirty="0"/>
              <a:t>Query 1: a simple query to generate a single value (the average daily price)</a:t>
            </a:r>
          </a:p>
          <a:p>
            <a:pPr lvl="1"/>
            <a:r>
              <a:rPr lang="en-GB" dirty="0"/>
              <a:t>Query 2: uses Query 1 to find the automatic cars that are above the average daily price</a:t>
            </a:r>
          </a:p>
        </p:txBody>
      </p:sp>
    </p:spTree>
    <p:extLst>
      <p:ext uri="{BB962C8B-B14F-4D97-AF65-F5344CB8AC3E}">
        <p14:creationId xmlns:p14="http://schemas.microsoft.com/office/powerpoint/2010/main" val="4086635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31623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Second Example:</a:t>
            </a:r>
          </a:p>
          <a:p>
            <a:r>
              <a:rPr lang="en-GB" dirty="0"/>
              <a:t>Write an SQL query to display the details of any automatic car with a daily price that is above the average daily price. The query should display the car make, model, colour, automatic and daily price. The most expensive cars should be listed first.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1 – Find Average Daily Price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AVG(dailyPrice) AS [Average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8758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2367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Second Example:</a:t>
            </a:r>
          </a:p>
          <a:p>
            <a:r>
              <a:rPr lang="en-GB" dirty="0"/>
              <a:t>Write an SQL query to display the details of any automatic car with a daily price that is above the average daily price. The query should display the car make, model, colour, automatic and daily price. The most expensive cars should be listed first.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1 – Find Average Daily Price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7D8EC8A-659E-404D-90D3-CD1C9788D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749555"/>
              </p:ext>
            </p:extLst>
          </p:nvPr>
        </p:nvGraphicFramePr>
        <p:xfrm>
          <a:off x="4983162" y="4991100"/>
          <a:ext cx="222567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5675">
                  <a:extLst>
                    <a:ext uri="{9D8B030D-6E8A-4147-A177-3AD203B41FA5}">
                      <a16:colId xmlns:a16="http://schemas.microsoft.com/office/drawing/2014/main" val="916424026"/>
                    </a:ext>
                  </a:extLst>
                </a:gridCol>
              </a:tblGrid>
              <a:tr h="23672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Average Daily 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£34.68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94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52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Second Example:</a:t>
            </a:r>
          </a:p>
          <a:p>
            <a:r>
              <a:rPr lang="en-GB" dirty="0"/>
              <a:t>Write an SQL query to display the details of any automatic car with a daily price that is above the average daily price. The query should display the car make, model, colour, automatic and daily price. The most expensive cars should be listed first.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2 – Display automatic cars with daily price above average daily price</a:t>
            </a:r>
            <a:endParaRPr lang="en-GB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SELECT make, model, colour, automatic, dailyPrice, [Average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FROM car, [Find Average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WHERE dailyPrice &gt; [Average Daily Price]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AND automatic = TRUE</a:t>
            </a:r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ORDER BY dailyPrice DESC;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864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E3C3-098B-4B9B-8A66-0B57DFB5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Result of a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B5149-D4EC-43C2-83CA-A68E36C75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36800"/>
            <a:ext cx="8767064" cy="452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Second Example:</a:t>
            </a:r>
          </a:p>
          <a:p>
            <a:r>
              <a:rPr lang="en-GB" dirty="0"/>
              <a:t>Write an SQL query to display the details of any automatic car with a daily price that is above the average daily price. The query should display the car make, model, colour, automatic and daily price. The most expensive cars should be listed first.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u="sng" dirty="0"/>
              <a:t>Query 2 – Display automatic cars with daily price above average daily price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003F60C-4C0C-4236-8EBD-5824D0241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404547"/>
              </p:ext>
            </p:extLst>
          </p:nvPr>
        </p:nvGraphicFramePr>
        <p:xfrm>
          <a:off x="2352760" y="4749800"/>
          <a:ext cx="7486480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5085">
                  <a:extLst>
                    <a:ext uri="{9D8B030D-6E8A-4147-A177-3AD203B41FA5}">
                      <a16:colId xmlns:a16="http://schemas.microsoft.com/office/drawing/2014/main" val="37207324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3142342580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4223147753"/>
                    </a:ext>
                  </a:extLst>
                </a:gridCol>
                <a:gridCol w="1159193">
                  <a:extLst>
                    <a:ext uri="{9D8B030D-6E8A-4147-A177-3AD203B41FA5}">
                      <a16:colId xmlns:a16="http://schemas.microsoft.com/office/drawing/2014/main" val="647846818"/>
                    </a:ext>
                  </a:extLst>
                </a:gridCol>
                <a:gridCol w="1099865">
                  <a:extLst>
                    <a:ext uri="{9D8B030D-6E8A-4147-A177-3AD203B41FA5}">
                      <a16:colId xmlns:a16="http://schemas.microsoft.com/office/drawing/2014/main" val="4039164330"/>
                    </a:ext>
                  </a:extLst>
                </a:gridCol>
                <a:gridCol w="2063852">
                  <a:extLst>
                    <a:ext uri="{9D8B030D-6E8A-4147-A177-3AD203B41FA5}">
                      <a16:colId xmlns:a16="http://schemas.microsoft.com/office/drawing/2014/main" val="2846916279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make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colour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automatic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dailyPrice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Average Daily Price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Mercedes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A-Class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Wingdings" panose="05000000000000000000" pitchFamily="2" charset="2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£52.00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£34.68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0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Nissan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Qashqai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Wingdings" panose="05000000000000000000" pitchFamily="2" charset="2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£46.00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£34.68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77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Golf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Wingdings" panose="05000000000000000000" pitchFamily="2" charset="2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£34.68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63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Wingdings" panose="05000000000000000000" pitchFamily="2" charset="2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£34.68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54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163049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1030</TotalTime>
  <Words>2084</Words>
  <Application>Microsoft Office PowerPoint</Application>
  <PresentationFormat>Widescreen</PresentationFormat>
  <Paragraphs>432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Courier New</vt:lpstr>
      <vt:lpstr>Gill Sans MT</vt:lpstr>
      <vt:lpstr>Wingdings</vt:lpstr>
      <vt:lpstr>Parcel</vt:lpstr>
      <vt:lpstr>SQL</vt:lpstr>
      <vt:lpstr>Car Hire Database Example</vt:lpstr>
      <vt:lpstr>Car Hire Database Example</vt:lpstr>
      <vt:lpstr>Wildcards</vt:lpstr>
      <vt:lpstr>Wildcards Example 1</vt:lpstr>
      <vt:lpstr>Wildcards Example 1</vt:lpstr>
      <vt:lpstr>Wildcards Example 2</vt:lpstr>
      <vt:lpstr>Wildcards Example 2</vt:lpstr>
      <vt:lpstr>AVG</vt:lpstr>
      <vt:lpstr>AVG</vt:lpstr>
      <vt:lpstr>MIN, MAX &amp; Aliases</vt:lpstr>
      <vt:lpstr>MIN, MAX &amp; Aliases</vt:lpstr>
      <vt:lpstr>COUNT</vt:lpstr>
      <vt:lpstr>COUNT</vt:lpstr>
      <vt:lpstr>SUM</vt:lpstr>
      <vt:lpstr>SUM</vt:lpstr>
      <vt:lpstr>GROUP BY</vt:lpstr>
      <vt:lpstr>GROUP BY</vt:lpstr>
      <vt:lpstr>UPDATE</vt:lpstr>
      <vt:lpstr>UPDATE</vt:lpstr>
      <vt:lpstr>Computed Values</vt:lpstr>
      <vt:lpstr>Computed Values</vt:lpstr>
      <vt:lpstr>Using the Result of a Query</vt:lpstr>
      <vt:lpstr>Using the Result of a Query</vt:lpstr>
      <vt:lpstr>Using the Result of a Query</vt:lpstr>
      <vt:lpstr>Using the Result of a Query</vt:lpstr>
      <vt:lpstr>Using the Result of a Query</vt:lpstr>
      <vt:lpstr>Using the Result of a Query</vt:lpstr>
      <vt:lpstr>Using the Result of a Query</vt:lpstr>
      <vt:lpstr>Using the Result of a Query</vt:lpstr>
      <vt:lpstr>Using the Result of a Query</vt:lpstr>
      <vt:lpstr>Using the Result of a Query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Mark Cunningham</dc:creator>
  <cp:lastModifiedBy>Mark Cunningham</cp:lastModifiedBy>
  <cp:revision>20</cp:revision>
  <dcterms:created xsi:type="dcterms:W3CDTF">2020-04-06T16:03:50Z</dcterms:created>
  <dcterms:modified xsi:type="dcterms:W3CDTF">2020-04-07T09:14:50Z</dcterms:modified>
</cp:coreProperties>
</file>